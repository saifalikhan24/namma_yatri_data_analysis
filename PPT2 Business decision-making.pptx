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45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347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60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892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52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25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70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39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421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6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172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301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04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042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62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349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55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09D89CA-646F-44C0-A0A5-A6A4AC2FDA56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A37D370-E44F-45D9-A463-3BCCC3A10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09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144505-1438-2B30-9ADE-68B6055AF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497" y="1026774"/>
            <a:ext cx="7801887" cy="4524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DDAC24-D5EE-E133-5C5D-169632883A05}"/>
              </a:ext>
            </a:extLst>
          </p:cNvPr>
          <p:cNvSpPr txBox="1"/>
          <p:nvPr/>
        </p:nvSpPr>
        <p:spPr>
          <a:xfrm>
            <a:off x="348342" y="2101334"/>
            <a:ext cx="31024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 err="1">
                <a:latin typeface="Times New Roman" pitchFamily="18" charset="0"/>
                <a:cs typeface="Times New Roman" pitchFamily="18" charset="0"/>
              </a:rPr>
              <a:t>Namma</a:t>
            </a:r>
            <a:r>
              <a:rPr lang="en-IN" sz="4800" b="1" dirty="0">
                <a:latin typeface="Times New Roman" pitchFamily="18" charset="0"/>
                <a:cs typeface="Times New Roman" pitchFamily="18" charset="0"/>
              </a:rPr>
              <a:t> Yatri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32539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5BE7-8DE4-5B99-DBB4-87B2C41C5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>
            <a:extLst>
              <a:ext uri="{FF2B5EF4-FFF2-40B4-BE49-F238E27FC236}">
                <a16:creationId xmlns:a16="http://schemas.microsoft.com/office/drawing/2014/main" id="{3E51E80D-7F36-D175-FAED-C6A04955D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742" y="378526"/>
            <a:ext cx="9076517" cy="5204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6" tIns="45708" rIns="91416" bIns="45708" numCol="1" anchor="ctr" anchorCtr="0" compatLnSpc="1">
            <a:prstTxWarp prst="textNoShape">
              <a:avLst/>
            </a:prstTxWarp>
          </a:bodyPr>
          <a:lstStyle/>
          <a:p>
            <a:pPr lvl="0" algn="ctr" defTabSz="91412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prstClr val="black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Problem Statement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541AD-150E-754C-E226-88624EB9EB66}"/>
              </a:ext>
            </a:extLst>
          </p:cNvPr>
          <p:cNvSpPr txBox="1"/>
          <p:nvPr/>
        </p:nvSpPr>
        <p:spPr>
          <a:xfrm>
            <a:off x="1219199" y="1378411"/>
            <a:ext cx="896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 provide actionable insights to the management of </a:t>
            </a:r>
            <a:r>
              <a:rPr lang="en-IN" b="1" dirty="0" err="1"/>
              <a:t>Namma</a:t>
            </a:r>
            <a:r>
              <a:rPr lang="en-IN" b="1" dirty="0"/>
              <a:t> Yatri focusing on improving: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95D9C-C0B5-2992-00D1-9CCAB2BD268B}"/>
              </a:ext>
            </a:extLst>
          </p:cNvPr>
          <p:cNvSpPr txBox="1"/>
          <p:nvPr/>
        </p:nvSpPr>
        <p:spPr>
          <a:xfrm>
            <a:off x="1317171" y="2013857"/>
            <a:ext cx="8556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Ride industry facing challenges like trip cancellations, demand supply mismatches, fare fluctuations. This analysis aims to develop Power BI dashboard to optimize operations and enhance customer experience.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11EF7-FE4B-98D4-ED05-B9AF449A0ADC}"/>
              </a:ext>
            </a:extLst>
          </p:cNvPr>
          <p:cNvSpPr txBox="1"/>
          <p:nvPr/>
        </p:nvSpPr>
        <p:spPr>
          <a:xfrm>
            <a:off x="1317171" y="3170644"/>
            <a:ext cx="816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C4894-43AF-8EA0-DD94-6F08EB871318}"/>
              </a:ext>
            </a:extLst>
          </p:cNvPr>
          <p:cNvSpPr txBox="1"/>
          <p:nvPr/>
        </p:nvSpPr>
        <p:spPr>
          <a:xfrm>
            <a:off x="1317171" y="3940629"/>
            <a:ext cx="8425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ride patterns to identify key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Optimize fare pricing pattern using data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Improving driver allocation based on demand supply trends.</a:t>
            </a:r>
          </a:p>
        </p:txBody>
      </p:sp>
    </p:spTree>
    <p:extLst>
      <p:ext uri="{BB962C8B-B14F-4D97-AF65-F5344CB8AC3E}">
        <p14:creationId xmlns:p14="http://schemas.microsoft.com/office/powerpoint/2010/main" val="334442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95D1C-F1DB-A465-6104-2332BA1A7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BC7C7B-3671-AFC1-A1C7-BF88A106F9EC}"/>
              </a:ext>
            </a:extLst>
          </p:cNvPr>
          <p:cNvSpPr txBox="1"/>
          <p:nvPr/>
        </p:nvSpPr>
        <p:spPr>
          <a:xfrm>
            <a:off x="2579912" y="544287"/>
            <a:ext cx="5900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Approach &amp; Tools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1D946-23CB-7C5E-756D-23518207F8C5}"/>
              </a:ext>
            </a:extLst>
          </p:cNvPr>
          <p:cNvSpPr txBox="1"/>
          <p:nvPr/>
        </p:nvSpPr>
        <p:spPr>
          <a:xfrm>
            <a:off x="1306286" y="1951672"/>
            <a:ext cx="9525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cleaning &amp; transformation in Power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Modelling &amp; creating relationship between the tables in Power BI desktop.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Dax calculations for important KPI’s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Dashboard creating &amp; Insights Extractions.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Business Recommendations &amp;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530997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850FB-F992-28B1-C295-07AD0F5F6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239C1-C3B7-556F-532D-A71220E629D0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Data Source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0D61-40FF-8FDF-3F41-FEFA319B7A32}"/>
              </a:ext>
            </a:extLst>
          </p:cNvPr>
          <p:cNvSpPr txBox="1"/>
          <p:nvPr/>
        </p:nvSpPr>
        <p:spPr>
          <a:xfrm>
            <a:off x="925286" y="2155370"/>
            <a:ext cx="105809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Trips table with the following variables (Trip ID, Fare, Duration, Distance, Driver ID, Customer ID).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Trip Details table with the following variables(Customer interactions, Cancellations, Completions).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Payment Methods table with the following variables (Cash, UPI, Debit Card).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Assembly table with the following variables (Pickup &amp; Drop Zones).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56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D9E3-A51F-2ABE-8ECB-87ACA7EE1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EE0EF1-5B4A-55A8-86A5-276F90D1F9F9}"/>
              </a:ext>
            </a:extLst>
          </p:cNvPr>
          <p:cNvSpPr txBox="1"/>
          <p:nvPr/>
        </p:nvSpPr>
        <p:spPr>
          <a:xfrm>
            <a:off x="2879272" y="130628"/>
            <a:ext cx="5780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Insights Generated from the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5C073-9C67-0F75-ED09-BA24D498E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28" y="599418"/>
            <a:ext cx="7010401" cy="33291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FDB803-CB6D-DDDE-76E2-0F3AB1C1CE3A}"/>
              </a:ext>
            </a:extLst>
          </p:cNvPr>
          <p:cNvSpPr txBox="1"/>
          <p:nvPr/>
        </p:nvSpPr>
        <p:spPr>
          <a:xfrm>
            <a:off x="0" y="2413091"/>
            <a:ext cx="44740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Analysing the distribution of ride demand over the period of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Identified peak hours of like 0-1, 13-14, 6-7 are highest peak hours where customers has more demand for rides.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While compared with Early Morning, Morning, Afternoon, Evening.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Observed Afternoon has the more demand from of ride leading with 258 completed rides.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1A4027-9162-B225-01EB-4B484B68C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28" y="3983039"/>
            <a:ext cx="7010400" cy="281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74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AF3DF-8DA3-DD44-791C-A5C8F718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B3AAF9-B18C-77FC-A098-45C2E538D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314" y="685975"/>
            <a:ext cx="4887686" cy="2590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E2E5C4-1EBE-CF33-EF0D-B9073535CE8F}"/>
              </a:ext>
            </a:extLst>
          </p:cNvPr>
          <p:cNvSpPr txBox="1"/>
          <p:nvPr/>
        </p:nvSpPr>
        <p:spPr>
          <a:xfrm>
            <a:off x="247035" y="392238"/>
            <a:ext cx="6839565" cy="604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267335" indent="-228600" algn="just">
              <a:lnSpc>
                <a:spcPct val="115000"/>
              </a:lnSpc>
              <a:spcBef>
                <a:spcPts val="405"/>
              </a:spcBef>
              <a:buNone/>
              <a:tabLst>
                <a:tab pos="503555" algn="l"/>
                <a:tab pos="504825" algn="l"/>
              </a:tabLst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Most Preferred Method: Credit Card 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267335" lvl="0" indent="-34290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Credit card leads in total fare amount collected.</a:t>
            </a:r>
          </a:p>
          <a:p>
            <a:pPr marL="285750" marR="267335" lvl="0" indent="-28575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Indicates a high adoption of credit card-based payments, possible by frequent riders.</a:t>
            </a:r>
          </a:p>
          <a:p>
            <a:pPr marL="285750" marR="267335" lvl="0" indent="-28575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Suggests strong trust in digital security and app integration.</a:t>
            </a:r>
          </a:p>
          <a:p>
            <a:pPr marL="457200" marR="267335" indent="-228600" algn="just">
              <a:lnSpc>
                <a:spcPct val="115000"/>
              </a:lnSpc>
              <a:spcBef>
                <a:spcPts val="405"/>
              </a:spcBef>
              <a:buNone/>
              <a:tabLst>
                <a:tab pos="503555" algn="l"/>
                <a:tab pos="504825" algn="l"/>
              </a:tabLst>
            </a:pP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Very close Competition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marR="267335" lvl="0" indent="-28575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difference between cash, debit card, and UPI is relatively minimal (1-2k difference).</a:t>
            </a:r>
          </a:p>
          <a:p>
            <a:pPr marL="285750" marR="267335" lvl="0" indent="-28575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Implies a balanced adoption of various payment methods.</a:t>
            </a:r>
          </a:p>
          <a:p>
            <a:pPr marL="285750" marR="267335" lvl="0" indent="-28575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This diversity may reflect user preference, availability, or app offers.</a:t>
            </a:r>
            <a:b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IN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Cash Still Prominent</a:t>
            </a:r>
            <a:endParaRPr lang="en-IN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28600" marR="267335" algn="just">
              <a:lnSpc>
                <a:spcPct val="115000"/>
              </a:lnSpc>
              <a:spcBef>
                <a:spcPts val="405"/>
              </a:spcBef>
              <a:tabLst>
                <a:tab pos="503555" algn="l"/>
                <a:tab pos="504825" algn="l"/>
              </a:tabLst>
            </a:pPr>
            <a:r>
              <a:rPr lang="en-IN" dirty="0">
                <a:latin typeface="Arial" panose="020B0604020202020204" pitchFamily="34" charset="0"/>
              </a:rPr>
              <a:t>Despite digital transactions are high, cash remains the second most used.</a:t>
            </a:r>
          </a:p>
          <a:p>
            <a:pPr marL="457200" marR="267335" indent="-228600" algn="just">
              <a:lnSpc>
                <a:spcPct val="115000"/>
              </a:lnSpc>
              <a:spcBef>
                <a:spcPts val="405"/>
              </a:spcBef>
              <a:buNone/>
              <a:tabLst>
                <a:tab pos="503555" algn="l"/>
                <a:tab pos="504825" algn="l"/>
              </a:tabLst>
            </a:pPr>
            <a:r>
              <a:rPr lang="en-IN" dirty="0">
                <a:latin typeface="Arial" panose="020B0604020202020204" pitchFamily="34" charset="0"/>
              </a:rPr>
              <a:t>Might be common among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</a:p>
          <a:p>
            <a:pPr marL="285750" marR="267335" lvl="0" indent="-28575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Area with Poor internet connectivity.</a:t>
            </a:r>
          </a:p>
          <a:p>
            <a:pPr marL="285750" marR="267335" lvl="0" indent="-28575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Spontaneous trip users.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3A94F-9C8C-EE60-B4FD-5936BF45B12B}"/>
              </a:ext>
            </a:extLst>
          </p:cNvPr>
          <p:cNvSpPr txBox="1"/>
          <p:nvPr/>
        </p:nvSpPr>
        <p:spPr>
          <a:xfrm>
            <a:off x="2879272" y="32654"/>
            <a:ext cx="5780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Payment Methods</a:t>
            </a:r>
          </a:p>
        </p:txBody>
      </p:sp>
    </p:spTree>
    <p:extLst>
      <p:ext uri="{BB962C8B-B14F-4D97-AF65-F5344CB8AC3E}">
        <p14:creationId xmlns:p14="http://schemas.microsoft.com/office/powerpoint/2010/main" val="1382343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2FD7-83E8-422D-C912-28D3C00F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C7B828-88F6-5FC5-C0A0-BD4D2ACEAC55}"/>
              </a:ext>
            </a:extLst>
          </p:cNvPr>
          <p:cNvSpPr txBox="1"/>
          <p:nvPr/>
        </p:nvSpPr>
        <p:spPr>
          <a:xfrm>
            <a:off x="116407" y="1541752"/>
            <a:ext cx="6219080" cy="3774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267335" algn="just">
              <a:lnSpc>
                <a:spcPct val="115000"/>
              </a:lnSpc>
              <a:spcBef>
                <a:spcPts val="405"/>
              </a:spcBef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Ramanagaram,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Yeshwanthpur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Bangalore South,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Dasarahalli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Gandhi Nagar are the top 5 pickup zones with highest number of completed trips.</a:t>
            </a:r>
          </a:p>
          <a:p>
            <a:pPr marL="228600" marR="267335" algn="just">
              <a:lnSpc>
                <a:spcPct val="115000"/>
              </a:lnSpc>
              <a:spcBef>
                <a:spcPts val="405"/>
              </a:spcBef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Below might be the factors of contributing highest number of completed trips.</a:t>
            </a:r>
          </a:p>
          <a:p>
            <a:pPr marR="267335" lvl="0" algn="just">
              <a:lnSpc>
                <a:spcPct val="115000"/>
              </a:lnSpc>
              <a:spcBef>
                <a:spcPts val="405"/>
              </a:spcBef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Possibility of a commuter hub or connecting point for long distance </a:t>
            </a:r>
            <a:r>
              <a:rPr lang="en-IN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travelers</a:t>
            </a: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 marL="342900" marR="267335" lvl="0" indent="-34290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Major transportation hub with busy railway station or metro connectivity.</a:t>
            </a:r>
          </a:p>
          <a:p>
            <a:pPr marL="285750" marR="267335" lvl="0" indent="-285750" algn="just">
              <a:lnSpc>
                <a:spcPct val="115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03555" algn="l"/>
                <a:tab pos="504825" algn="l"/>
              </a:tabLst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Large residential and commercial mix, which fuels demand throughout the day.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D5C85-4F41-B41C-A689-F2643F3680DE}"/>
              </a:ext>
            </a:extLst>
          </p:cNvPr>
          <p:cNvSpPr txBox="1"/>
          <p:nvPr/>
        </p:nvSpPr>
        <p:spPr>
          <a:xfrm>
            <a:off x="2879272" y="32654"/>
            <a:ext cx="5780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Top Zones with highest trip volume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CDEEB-BB86-CE85-974B-94C4AD4CC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409" y="1866061"/>
            <a:ext cx="5571933" cy="312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10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7D0D-1B72-F053-4EB7-1AB58F6EC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4C1B8-86AF-FB30-B485-929B154DAE91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Business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FAEE7-E30A-1C04-B412-A668DFD9F3FD}"/>
              </a:ext>
            </a:extLst>
          </p:cNvPr>
          <p:cNvSpPr txBox="1"/>
          <p:nvPr/>
        </p:nvSpPr>
        <p:spPr>
          <a:xfrm>
            <a:off x="979716" y="2373790"/>
            <a:ext cx="6008914" cy="2081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High drop off rates during fare estimates – Implementing predective pricing model.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Demand supply gaps in key locations – Increasing drivers allocation in hight demand locations.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Fare spikes during peak hours – Optimizing dynamic fare pricing for all the rides.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Digital payements are higher but still cash payments almost equal – Providing offers for digital payment incentives.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B751AE-A0B5-F343-0D2A-C46570CF3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980485"/>
            <a:ext cx="3862707" cy="289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8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67F87-A67E-70D7-3E95-88645ABD3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858A4B-FD47-F0C7-2EFB-834D5612E03E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Improvements Required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51F72-2292-7CE8-475E-C1837D683F25}"/>
              </a:ext>
            </a:extLst>
          </p:cNvPr>
          <p:cNvSpPr txBox="1"/>
          <p:nvPr/>
        </p:nvSpPr>
        <p:spPr>
          <a:xfrm>
            <a:off x="1524002" y="2232275"/>
            <a:ext cx="6008914" cy="190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Increasing demand supply matching to reduce ride confirmation wait time.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Fare obtimization to balance affordability of rides and increase revenue.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Improving performance of the drivers through better allocation of location.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it-IT" dirty="0"/>
              <a:t>Increating digital payments through targeted incentives.</a:t>
            </a:r>
          </a:p>
        </p:txBody>
      </p:sp>
    </p:spTree>
    <p:extLst>
      <p:ext uri="{BB962C8B-B14F-4D97-AF65-F5344CB8AC3E}">
        <p14:creationId xmlns:p14="http://schemas.microsoft.com/office/powerpoint/2010/main" val="13903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C0886-1332-56B8-A667-93F3E85A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548F4C-C422-21F8-13A6-AFA2DAFF0373}"/>
              </a:ext>
            </a:extLst>
          </p:cNvPr>
          <p:cNvSpPr txBox="1"/>
          <p:nvPr/>
        </p:nvSpPr>
        <p:spPr>
          <a:xfrm>
            <a:off x="3124200" y="762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6E95E-E8C9-619D-33AA-09CB70F74E23}"/>
              </a:ext>
            </a:extLst>
          </p:cNvPr>
          <p:cNvSpPr txBox="1"/>
          <p:nvPr/>
        </p:nvSpPr>
        <p:spPr>
          <a:xfrm>
            <a:off x="1360714" y="1970316"/>
            <a:ext cx="92419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driven insights helps optimize rides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Giving best offers to the regular customers to reduce cancellation from regular customers and boost customer retentions.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Smart allocation of the drives at the main locations to improve the efficiency and service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Giving incentives to the drives who allocated at the peak hours to reduce the drivers cancellation.</a:t>
            </a:r>
          </a:p>
        </p:txBody>
      </p:sp>
    </p:spTree>
    <p:extLst>
      <p:ext uri="{BB962C8B-B14F-4D97-AF65-F5344CB8AC3E}">
        <p14:creationId xmlns:p14="http://schemas.microsoft.com/office/powerpoint/2010/main" val="392410945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40</TotalTime>
  <Words>609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Lato Semibold</vt:lpstr>
      <vt:lpstr>Times New Roman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Saif Pathan</dc:creator>
  <cp:lastModifiedBy>Saif Pathan</cp:lastModifiedBy>
  <cp:revision>1</cp:revision>
  <dcterms:created xsi:type="dcterms:W3CDTF">2025-04-13T10:38:52Z</dcterms:created>
  <dcterms:modified xsi:type="dcterms:W3CDTF">2025-04-13T11:18:56Z</dcterms:modified>
</cp:coreProperties>
</file>